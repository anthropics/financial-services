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NYSE: MP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MP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0" i="0">
                <a:solidFill>
                  <a:srgbClr val="B26B1E"/>
                </a:solidFill>
                <a:latin typeface="Times New Roman"/>
              </a:rPr>
              <a:t>Competitive Landscape &amp; Investment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Peer set: Lynas · Energy Fuels · USA Rare Earth · China Northern Rare Earth · Albemarle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using `competitive-analysis` + `comps-analysis` skills (financial-services repo)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 workbook: MP-Comps-Analysis.xlsx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Only scaled US rare-earth play; DoD as anchor shareholder rewrites the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MP is the only fully scaled US rare-earth miner and the only Western producer with end-to-end mine-to-magnet ambition. Q1 2026 marked an inflection: revenue $90.6M (+49% YoY), record 917 MT NdPr oxide (+63%), Adj EBITDA flipped positive to $36.6M.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1460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US Department of Defense holds ~15% via preferred + warrant at $30.03/sh (Jul 2025 deal). The 10-year DoD offtake includes a $110/kg NdPr price floor — structural downside protection no peer has. MP is the only US public-company peer with this asymmetry.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490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Market cap ~$9.8B on TTM revenue $275M = priced for the magnet ramp. Stage III first commercial product is 2028. China still controls &gt;70% of mining, &gt;80% of processing — NdPr is exposed to Chinese export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98348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Long thesis intact for investors who accept multi-year execution risk in exchange for asymmetric upside on Section 232 / decoupling tailwinds and a 2028 magnet revenue inflection. Pair-trade vs CNREG offers tighter risk profile.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MP Q1 2026 10-Q (mp-20260331); MP DoD partnership press release (Jul 2025); CNBC, S&amp;P Global. See companion .xlsx Notes tab for full source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17365D"/>
                </a:solidFill>
                <a:latin typeface="Times New Roman"/>
              </a:rPr>
              <a:t>"Can MP convert rare-earth scarcity and US industrial policy into durable cash flow ahead of a competitive peer ramp — and is today's ~$10B market cap a reasonable entry on that thesis?"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We test that question across 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is the NdPr price environment supportive?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1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does MP have a defensible position vs Western and Chinese peers?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199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— what does the valuation look like vs peer comps?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7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Strategic — what's the moat and how durable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5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what's the cleanest expression of conviction (or wait)?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Framework adapted from the `competitive-analysis` skill (financial-services/plugins/vertical-plugins/financial-analysis).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Rare-earth demand structurally tight; NdPr +&gt;100% YTD with $110/kg DoD floor under MP</a:t>
            </a:r>
          </a:p>
        </p:txBody>
      </p:sp>
      <p:pic>
        <p:nvPicPr>
          <p:cNvPr id="4" name="Picture 3" descr="nd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845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chart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NdPr spot opened 2026 ~$53/kg.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By end-April hit ~$140/kg in some retail benchmarks; SMM industrial ~$100/kg in May.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Roughly +100–160% YTD depending on benchmark.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MP's $110/kg DoD price floor sits above current SMM spot.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MP earns the floor on volume covered by the PPA; otherwise sells at spot.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Lynas, UUUU, USAR are unhedged — they ride spot in both directions.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Drivers: China export quotas tightening, accelerating EV magnet demand, US decoupling capex.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NdPr prices: SMM, strategicmetalsinvest.com (May 2026). MP–DoD price floor: MP investor relations, Jul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China owns &gt;70% of mining and &gt;80% of processing — value pools sit downstream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Mining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Cracking &amp; Leaching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Separation (NdPr / HRE)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Metal / Alloy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Sintered Magnets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371600"/>
            <a:ext cx="1874519" cy="73152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Downstream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Typical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Times New Roman"/>
              </a:rPr>
              <a:t>China share: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10–20%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~70%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5–10%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~80%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15–25%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~85%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5–10%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~90%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20–30%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~90%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28600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B26B1E"/>
                </a:solidFill>
                <a:latin typeface="Times New Roman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697480"/>
            <a:ext cx="18745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Times New Roman"/>
              </a:rPr>
              <a:t>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What this means for investors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468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The highest-margin stages (Separation, Sintered Magnets) are where strategic value sits — and where China is most dominant.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MP and USAR are the only Western names targeting Sintered Magnets at scale. Lynas is strong through Separation but does not produce magnets.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Energy Fuels is a processing pivot from uranium — capacity optionality, but no magnets.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China Northern Rare Earth is fully integrated AND state-controlled — sets the marginal price for the global market.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This is why MP's Stage III magnet facility (Independence, TX, commercial 2028) is the thesis-critical milestone.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Market shares: Discovery Alert, Farmonaut, SMM (2025/26 industry reports). Margins are typical-industry ranges, not company-specific.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MP profile — Q1'26 inflection: revenue +49%, NdPr +63%, Adj EBITDA flipped to +$36.6M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1645920"/>
                <a:gridCol w="4114800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YoY change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Source / note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Q1 2026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$90.6M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+49%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Q1 2026 earnings release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Q1 2026 NdPr oxide production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917 MT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+63%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Record quarter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Q1 2026 NdPr oxide sales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1,006 MT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+117%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Sales outpaced production via inventory draw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Q1 2026 Adj EBITDA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$36.6M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+$49.9M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Driven by $110/kg DoD price floor (PPA, eff. Oct 2025)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Magnetics segment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$21.1M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+$15.9M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Magnetic precursor products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$275M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Sum of trailing four quarters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$9.81B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May 15, 2026 (StockAnalysis)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52-week range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$18.64 – $100.25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Stock $61.74 (May 21)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FY 2026 consensus revenue growth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+67%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n/a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Analyst aggregate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MP Materials Q1 2026 earnings release; 10-Q FY2026 Q1 (mp-20260331); StockAnalysis.com (May 2026).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DoD ~15% stake + 10-yr offtake + $110/kg NdPr floor = public–private moat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1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Detail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Form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DoD purchases $400M of newly-created preferred stock, convertible to common + warrant for additional common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Aggregate stake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~15% of MP common (post-conversion + warrant exercise) as of Jul 9, 2025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Conversion price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$30.03 per share of common stock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Close date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July 11, 2025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DoD position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Becomes MP's LARGEST single shareholder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Offtake commitment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10-year DoD off-take of MP magnet/REE output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NdPr price floor (PPA)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$110/kg on NdPr products covered by the agreement; effective Oct 1, 2025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Use of proceeds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Expand separation &amp; processing AND magnet production capacity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Stage III magnet facility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Construction begins 2026; first commercial product expected 2028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MP Materials press release (Jul 10, 2025); CNBC; Center on Global Energy Policy (Columbia SIPA); Payne Institute explainer.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set — four strategic groups, two of which MP competes in directly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0972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Tier 1 — Western pure-plays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MP Materials (NYSE: MP) — only scaled US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Lynas Rare Earths (ASX: LYC) — only scaled non-US Western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64592" cy="109728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26B1E"/>
                </a:solidFill>
                <a:latin typeface="Times New Roman"/>
              </a:rPr>
              <a:t>Tier 2 — US juniors / ramping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Energy Fuels (NYSE: UUUU) — uranium with REE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USA Rare Earth (Nasdaq: USAR) — magnet-focused, $1.6B US gov't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6459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Times New Roman"/>
              </a:rPr>
              <a:t>Tier 3 — Chinese majors (context)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China Northern Rare Earth (SHA: 600111) — world's largest, state-owned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(Shenghe, JL Mag, etc. — not investable for most Western mandates)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64592" cy="10972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Tier 4 — Critical-minerals adjacent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Albemarle (NYSE: ALB) — lithium leader, not 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Included for broader critical-minerals reference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Peer set per `comps-analysis` 4–6 rule. Excluded: Chinese mid-caps (not investable), early-stage exploration plays without near-term cash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Scale × Integration: MP and Lynas alone occupy the Western 'fully-integrated' quadrant</a:t>
            </a:r>
          </a:p>
        </p:txBody>
      </p:sp>
      <p:pic>
        <p:nvPicPr>
          <p:cNvPr id="4" name="Picture 3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046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matrix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China Northern RE is the only fully integrated, scaled producer globally — but un-investable for many.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MP sits in the top-right Western quadrant, alone with Lynas — and uniquely targets sintered magnets (vs Lynas which does not).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USAR is a magnet-only pure-play; small scale.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Energy Fuels is processing-only with REE optionality.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Albemarle is in the adjacent lithium / bromine space — not a true comp.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Integration score derived from public stage disclosures. Bubble size reflects market cap (qualitative).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dive: Lynas — Most-profitable Western pure-play, slower up the value chain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566160"/>
              </a:tblGrid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~US$10.8B (A$15.1B)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Q3 FY26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A$265M (+115% YoY, +31% QoQ)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H1 FY26 revenue / NI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A$413.7M / A$80.2M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FY26 forecast revenue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~A$1.1B (~2x FY25)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FY26 NdPr volume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~8,800 MT (+35% YoY)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FY26 NdPr avg realised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A$118/kg (+48%)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US$211M / ~36%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P/E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~209x (forward ~37x)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Key asset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Mt Weld, WA — highest-grade REE deposit globally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Processing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Kuantan, Malaysia; Kalgoorlie cracking; Seadrift, TX (heavy REE, DoD-funded)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297680"/>
              </a:tblGrid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Assessment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Mine → Crack/Leach → Separation, including Heavy REE (Dy/Tb) at US Seadrift facility. Does NOT produce magnets.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Highest-grade asset globally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Already profitable (EBITDA +$211M TTM)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US heavy-REE pivot with DoD support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Stops at separation — no magnet revenue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Single-mine concentration risk (Mt Weld)</a:t>
                      </a:r>
                    </a:p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• Currency exposure (AUD revenue, USD pricing)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Strategy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Volume growth (8,800 MT NdPr in FY26) + US footprint expansion. Will compete with MP in heavy REE.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Lynas H1 FY26 results (Dec 2025); Q3 FY26 update; StockAnalysis.com; S&amp;P Global Market Intelligence (Dec 2025).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deep dives: US juniors — capacity optionality, execution risk, long-dated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</a:tblGrid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Energy Fuels (UUUU)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 uranium producer; pivoting into REE processing at White Mesa Mill (Utah)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Phase 2 plan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6,000 tpa NdPr + 240 tpa Dy + 66 tpa Tb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Latest data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BFS published Jan 15, 2026 — "lowest-cost NdPr in the world"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Existing milling infrastructure; low CAPEX vs greenfield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REE revenue still pre-commercial; uranium-dominated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Optionality play; thesis hinges on FID and ramp execution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</a:tblGrid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USA Rare Earth (USAR)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Mine-to-magnet integrated supply chain (Texas to Oklahoma)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Q2 2026 event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Stillwater, OK magnet line commercial production begins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Financing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$1.5B PIPE closed (Inflection Point anchor); $1.6B US gov't investment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Magnet pure-play; gov't backing; first commercial magnets in scope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Pre-meaningful revenue; small scale; integration not fully proven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Single-thesis bet: can it deliver US magnets at scale on schedule?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UUUU Phase 2 BFS (Jan 2026); USAR 8-K (Q2 2026 magnet commissioning); Motley Fool (Feb 2026 US$1.6B investment).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Peer context: China Northern Rare Earth — sets the price; un-investable for most Western capital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</a:tblGrid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Global share — mining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~60–70% controlled by China; CNREG largest single producer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Global share — processing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&gt;80%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FY2025 revenue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¥42.6B (US$5,910M) — up 29% YoY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FY2025 net income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¥2.25B (US$313M) — up 124% YoY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H1 2025 NI growth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+1,882% to +2,014% YoY (off low base, rare-earth price recovery)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2026 net profit guidance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US$125–131M (+109% to +118% YoY)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Parent / ownership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Baogang Group (state-owned, Inner Mongolia)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Strategic role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Sets global NdPr benchmark price; vertical integration mine → magnet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Why this matters for 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783080"/>
            <a:ext cx="45720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CNREG's price actions set the marginal NdPr clearing price — MP's economics ride on that benchmark for any volume outside the DoD floor.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China can introduce export quotas / restrictions on heavy REE (Dy/Tb) at policy speed — direct upside for MP/Lynas, but execution-risk lever.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CNREG profits +124% YoY says: China is winning today even as the West tries to decouple. Decoupling theme is real but slow.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Pair-trade idea: long MP / short CNREG offers a cleaner geopolitical-decoupling expression than MP outright.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Shanghai Metals Market (SMM); Discovery Alert; Farmonaut (2025/26 industry reports).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Comparative scoreboard — MP leads scale &amp; integration vector; lags near-term margins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1371600"/>
                <a:gridCol w="1463040"/>
                <a:gridCol w="1463040"/>
                <a:gridCol w="1463040"/>
              </a:tblGrid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MP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Lynas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UUUU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USAR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CNREG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Albemarle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Revenue scale (TTM)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$275M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$578M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$70M[E]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Pre-rev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$5.9B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$5.85B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Vertical integration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Mine→Mag plan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Mine→Sep+HRE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Proc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Magnet only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Full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Adjacent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TTM profitability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Neg→Pos Adj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+36% EBITDA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Neg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Neg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+12% EBITDA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+43% EBITDA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Govt backing / floor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DoD 15% + $110 floor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US/AU grants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Modest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$1.6B US inv.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State-owned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IRA / DoE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China-policy upside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Direct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Direct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Modest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Direct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Negative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Indirect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Valuation absorb-shock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Floor protects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Profitable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Capacity bet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Optionality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Cheap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Improving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Investability for US mandate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Yes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ASX-listed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Yes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Yes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○○○ No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Yes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● = Strong  ○ = Weak. Subjective ratings calibrated to data in companion .xlsx Operating Metrics / Valuation / REE-Specific tabs.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Strategic synthesis — Moat: integration + govt partnership · Risk: NdPr cycle + Stage III timing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097280"/>
                <a:gridCol w="914400"/>
                <a:gridCol w="914400"/>
                <a:gridCol w="1097280"/>
                <a:gridCol w="420624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Moat type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MP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Lynas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UUUU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USAR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CNREG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means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Network effects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Limited — REE is industrial supply chain, not platform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Switching costs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Mag spec-in is sticky; 10-yr offtake hard-wires customers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Scale economies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Cost curve favors integrated scale players (CNREG)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Intangibles (govt)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MP–DoD relationship is the single biggest Western intangible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Permits / location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Mountain Pass is the only operating US REE mine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Net moat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MP's durable advantages: (i) only operating US REE mine, (ii) DoD anchor + price floor, (iii) only Western mine→magnet ambition at scale.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MP's structural vulnerabilities: (i) magnet revenue not until 2028, (ii) NdPr spot still drives marginal volume, (iii) capex-heavy through 2028.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Moat framework per `competitive-analysis` skill Step 9. Ratings: Strong / Moderate (Mod) / Weak — calibrated against peer comparison.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Range of outcomes anchored by $110/kg floor (downside) and 2028 magnet revenue (upside)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4937760"/>
                <a:gridCol w="4114800"/>
              </a:tblGrid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Implied direction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Bull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Section 232 tariffs on REE imports; China heavy-REE export restrictions; Apple/GM expand magnet volume; Stage III on schedule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MP re-rates 50–100% on multi-year magnet revenue visibility; magnet revenue 2028 → 2–3x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Base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50%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NdPr ranges $80–$150/kg; DoD floor protects covered volume; Stage III breaks ground on time; Lynas/USAR add competitive supply but market absorbs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MP delivers TTM revenue growth &gt;50%; stock tracks NdPr + magnet ramp milestones; ~20–40% upside over 18 months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  <a:latin typeface="Times New Roman"/>
                        </a:rPr>
                        <a:t>Bear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China–US trade détente collapses NdPr; Stage III delays past 2028; USAR/UUUU ramp faster than expected, eroding pricing power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Times New Roman"/>
                        </a:rPr>
                        <a:t>MP re-rates 30–40% lower; trades closer to 4x EV/Sales (peer median) on stalled magnet narrative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 to watch (next 3 events that re-rate the scenario weighting)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NdPr spot vs $110/kg floor   2) Stage III construction milestone in H2 2026   3) Section 232 / export-control decisions on critical minerals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judgment, not consensus. For investment use, calibrate to your own conviction and time horizon.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Catalysts &amp; signposts — 2026 → 2028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5029200"/>
                <a:gridCol w="3291840"/>
              </a:tblGrid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When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Who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Event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Impact on MP thesis</a:t>
                      </a:r>
                    </a:p>
                  </a:txBody>
                  <a:tcPr marL="45720" marR="45720" marT="36576" marB="36576">
                    <a:solidFill>
                      <a:srgbClr val="17365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Q2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USAR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Stillwater (OK) sintered NdFeB magnet line commercial production begins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Competitive supply tick-up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H2 2026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MP Materials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Stage III magnet facility construction commences (Independence, TX)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Capex spike; long-dated optionality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H2 2026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Lynas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 heavy-REE (Dy/Tb) plant at Seadrift TX ramps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 non-China heavy-REE supply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Q4 2026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Energy Fuels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Phase 2 REE circuit final investment decision expected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Validates 6,000 tpa NdPr capex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Ongoing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US Policy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Section 232 review / China export-quota decisions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Sets relative price for non-China REE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2027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MP Materials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Apple / GM magnet supply expansion expected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Revenue mix shifts toward magnets</a:t>
                      </a:r>
                    </a:p>
                  </a:txBody>
                  <a:tcPr marL="45720" marR="45720" marT="36576" marB="36576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2028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MP Materials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First commercial sintered magnet product (Independence, TX)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THESIS-CRITICAL — completes mine-to-magnet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Catalysts compiled from MP investor commentary, peer guidance, and recent media. Track via /catalysts skill in production usage.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Decision frame — four ways to express the rare-earths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14300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26B1E"/>
                </a:solidFill>
                <a:latin typeface="Times New Roman"/>
              </a:rPr>
              <a:t>Long MP outright (highest conviction)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NdPr sustainably &gt; $110/kg floor; Stage III milestones on schedule; new offtake volume from Apple/GM. Risk: magnet ramp slips past 2028; China relaxes export rules and NdPr collapses. Position sizing reflects multi-year 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64592" cy="1143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Pair trade: long MP / short CNREG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Triggers: Section 232 tariffs on REE imports; escalating US–China decoupling. Risk: CNREG profits +124% YoY says China is winning today — short side may be early. Cleaner geopolitical expression than MP outright.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40"/>
            <a:ext cx="164592" cy="1143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Basket via REMX (theme exposure)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REMX YTD ~25–42% — diversified critical-minerals exposure. Trade-off: significant Chinese name weight inside the ETF; less direct US-domestic-supply exposure than MP single-name.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83480"/>
            <a:ext cx="164592" cy="1143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Avoid /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7899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Triggers to re-enter: (i) Stage III magnet line achieves first commercial output (~2028), (ii) trailing EBITDA turns sustainably positive, (iii) NdPr breaks below $80/kg without sufficient floor-protected volume mix. Acknowledges 2026 valuation already prices in significant ramp.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This deck is research and decision framing — not investment advice. Cross-check valuation against a primary terminal (CapIQ / FactSet / Bloomberg) before acting.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26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7365D"/>
                </a:solidFill>
                <a:latin typeface="Times New Roman"/>
              </a:rPr>
              <a:t>Sources, data gaps,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MP Materials Q1 2026 10-Q (mp-20260331) and Q1 2026 earnings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MP Materials – DoD partnership press release (Jul 10, 2025); CNBC (Pentagon largest shareholder)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Lynas H1 FY26 results; Q3 FY26 trading update; StockAnalysis.com LYC.AX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S&amp;P Global Market Intelligence — Lynas 2026 outlook (Dec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Energy Fuels Phase 2 BFS press release (Jan 15, 2026); Q1 2026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USA Rare Earth 8-K filings (Jan/Feb 2026 PIPE close); magnet-line commissioning press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China Northern Rare Earth FY25 results — Shanghai Metals Market (SMM); Discovery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Albemarle Q1 2026 earnings; SWOT analysis (Investing.com)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NdPr pricing: SMM, strategicmetalsinvest.com, rare-earth-mining.com (May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Market context: VanEck REMX ETF, Center on Global Energy Policy (Columbia SIPA)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Data gaps and caveats (read before using in a binding decision)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MCP data sources (CapIQ / FactSet / Daloopa) WERE NOT USED — the financial-services plugin connectors were not configured in this environment. Numbers should be cross-checked against a terminal before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66944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[E] flags in the companion .xlsx Inputs tab identify figures estimated from public commentary; cell comments document each assumption.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Chinese major financials reported in CNY — conversions use ~7.2 CNY/USD (May 2026 indicative); rerun if FX moves materially.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5312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Forward consensus (P/E forward, FY26 EPS estimates) drawn from public aggregators rather than sell-side feeds. Variance to consensus may exist.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54496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This research is for educational/decision-framing use only and is not investment advice.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 the `competitive-analysis` and `comps-analysis` skills in financial-services/plugins/vertical-plugins/financial-analysis. Companion file: MP-Comps-Analysis.xlsx.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