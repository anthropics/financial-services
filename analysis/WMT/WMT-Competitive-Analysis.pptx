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NYSE: WMT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Walmart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FFC220"/>
                </a:solidFill>
                <a:latin typeface="Times New Roman"/>
              </a:rPr>
              <a:t>Competitive Landscape &amp; Investment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Peer set: Costco · Target · Amazon · Kroger · BJ's Wholesale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using `competitive-analysis` + `comps-analysis` skills (financial-services repo)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 workbook: WMT-Comps-Analysis.xlsx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Scale + omnichannel flywheel + ad/marketplace mix = a re-rating story, not a retail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Walmart is the largest retailer on earth (~$685B TTM revenue) and the only grocery-anchored peer compounding ad + marketplace + membership revenue at 20–30% annual growth — three tiers structurally higher-margin than core retail.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1460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Stores + supply chain → low-cost grocery → traffic → high-margin ad inventory (Walmart Connect ~$5B run-rate) → marketplace 3P GMV → Walmart+ subscription. Each tier funds the next; none of WMT's pure-play peers (COST, KR, BJ, TGT) replicate the full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490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Stock at ~$95 (~$765B market cap, ~26x TTM EPS) is no longer 'cheap defensive.' Re-rating depends on continued ad/marketplace growth, consumer holding up through a soft-landing year, and Amazon not pressing harder into grocery.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8348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Long thesis intact for the margin-mix re-rating; key Q is duration. Pair against COST (premium peer) for relative-value framing. Avoid if you believe US consumer downtrades meaningfully in 2H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WMT Q1 FY26 10-Q and IR commentary (May 2026); StockAnalysis.com; companion .xlsx Notes tab for full source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17365D"/>
                </a:solidFill>
                <a:latin typeface="Times New Roman"/>
              </a:rPr>
              <a:t>"Is Walmart's ad/marketplace/membership margin mix worth a premium re-rating from the 18-20x P/E of legacy mass-merch — and is the current ~26x TTM P/E a reasonable entry on that thesis?"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We test that question across 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is the US retail / e-com / retail-media environment supportive?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1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does WMT have a defensible position vs warehouse clubs, mass merch, and AMZN?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199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— what does the valuation look like vs peer comps (COST, TGT, AMZN, KR, BJ)?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7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Strategic — what's the moat and how durable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5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what's the cleanest expression of conviction (or wait)?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Framework adapted from the `competitive-analysis` skill (financial-services/plugins/vertical-plugins/financial-analysis).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US retail $5T+; grocery share gains, e-com inflecting, retail-media the high-margin tier expanding fastest</a:t>
            </a:r>
          </a:p>
        </p:txBody>
      </p:sp>
      <p:pic>
        <p:nvPicPr>
          <p:cNvPr id="4" name="Picture 3" descr="comp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42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chart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Warehouse clubs (COST, BJ) lead on comp-sales growth — membership pricing power + value-trade-down winners.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WMT US comp +4.5% — above-trend mass-merch; outpaces TGT 2x.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 shows grocery still positive but slow; TGT lagging.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AMZN omitted — no comparable-store metric, but online retail growing ~10% YoY.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US retail-media ad spend ~$60B in 2025; growing ~20% YoY (eMarketer, IAB).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Comp sales: each issuer's Q1 FY26 IR releases; ex-fuel/gas. US retail-media TAM: eMarketer / IAB (2025).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Retail value chain — grocery thin, general merch better; ads + 3P marketplace + membership are the margin pools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Grocery / Food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Consumables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General Merch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Apparel /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3P Marketplace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Ads + Mbrshp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Typical EBIT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WMT presence: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2–4%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#1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5–8%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#1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10–15%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Top-2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15–25%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Mid-tier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25–40%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Building $50B+ GMV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C220"/>
                </a:solidFill>
                <a:latin typeface="Times New Roman"/>
              </a:rPr>
              <a:t>60–80%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17365D"/>
                </a:solidFill>
                <a:latin typeface="Times New Roman"/>
              </a:rPr>
              <a:t>Connect $5B+ run-rate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What this means for investors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Grocery anchors the traffic but contributes little to margin. The story-shaping tier is the right two-thirds: ads + 3P marketplace + membership.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Walmart Connect (ads) is reportedly running at &gt;40% EBIT margin — at $5B run-rate, that's ~$2B of incremental EBIT growing 30%+ YoY.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Amazon proved this template: AMZN's advertising services line has compounded to ~$60B TTM — that's the WMT bull case directionally.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Costco does NOT play in ads (intentionally, to protect member trust) — the margin lever WMT has, COST does not.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Kroger's Precision Marketing is the only direct peer comp for retail-media inside grocery; ~$1.5B annualized vs WMT Connect ~$5B.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Margin ranges: industry sources (NRF, Bain, JP Morgan retail primers). WMT/Connect figures: WMT mgmt commentary, Q4 FY25 and Q1 FY26.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Walmart profile — Q1 FY26: revenue +6%, ad+marketplace tiers compounding 20–30%, EBIT margin +25 bps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94560"/>
                <a:gridCol w="1828800"/>
                <a:gridCol w="40233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YoY change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Source / note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FY26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~$165B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Q1 FY26 IR release (May 2026)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US comp sales (ex-fuel)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+4.5%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Sustained above-trend mass-merch comps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WMT US e-commerce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~$110B run-rate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+20%+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~18% of US revenue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Connect (ad revenue)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~$5B run-rate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+30%+ YoY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not separately disclosed line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Marketplace 3P GMV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~$50B+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+30%+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 commentary; mix of US + India (Flipkart)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revenue (Sam's + Walmart+)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+9%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$2B + Walmart+ ~$1B estimate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~$685B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FY25 $681B + Q1 FY26 +6%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~$45B / ~6.6%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EBIT $30B + D&amp;A ~$15B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~$765B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~$95/share × ~8.05B shares, May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~26x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vs 5-yr avg ~22x; premium reflects mix-shift narrative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Walmart Q1 FY26 release (May 2026); WMT 10-K FY25 (Mar 2026); StockAnalysis.com market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WMT moat — supply-chain density + EDLP + Connect ad business form three reinforcing layers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 / KPI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Supply-chain scale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~4,600 US stores + ~150 distribution centers; ~90% of US population within 10 miles of a Walmart store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EDLP price gap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WMT averages ~10–15% price gap below TGT/KR on grocery basket (per third-party tracking)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Walmart+ subscription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Sub base ~$1B revenue tier; bundles grocery delivery, Paramount+, fuel discount — embeds household behavior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Marketplace 3P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~150K active sellers; international ramp via Flipkart (India) and Mexico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Walmart Connect (ads)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~$5B run-rate ad business; ~40%+ EBIT margin per mgmt; growing 30%+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Data + media network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~250M weekly customers → highest-quality first-party shopper-graph in US (vs AMZN's general e-com graph)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DC + automation capex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$15–17B annual capex modernizing DCs, automation, freight — extends per-unit cost gap vs sub-scale grocers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Geographic scale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Walmart International ~$120B revenue; Mexico (Walmex), India (PhonePe + Flipkart), China; supply leverage vs US-only peers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WMT 10-K FY25; mgmt commentary at Q4 FY25 / Q1 FY26 calls; third-party price tracking (Bain, KeyBanc).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set — four strategic groups, three of which WMT competes in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0972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Tier 1 — Warehouse club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Costco (Nasdaq: COST) — premium-priced peer, membership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BJ's Wholesale (NYSE: BJ) — smaller-scale COST follower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64592" cy="109728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220"/>
                </a:solidFill>
                <a:latin typeface="Times New Roman"/>
              </a:rPr>
              <a:t>Tier 2 — Mass-merch /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Walmart (NYSE: WMT) — scale leader, omnichannel + ad mix-shift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Target (NYSE: TGT) — cheap-chic, smaller scale, lagging comps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6459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Times New Roman"/>
              </a:rPr>
              <a:t>Tier 3 — Marketplace /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Amazon (Nasdaq: AMZN) — marketplace + ads + AWS — partial retail comp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(Shopify, eBay — out of scope for WMT direct competition)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64592" cy="10972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Tier 4 — Pure-play grocery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Kroger (NYSE: KR) — largest US pure-play grocer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(Albertsons, Sprouts, etc. — smaller pure-plays, excluded for tractability)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Peer set per `comps-analysis` 4–6 rule. Excluded: dollar stores (DG, DLTR — different customer cohort), specialty (no overlap with WMT mix).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Scale × E-commerce mix: WMT and AMZN alone occupy upper-right; COST commands a premium at lower mix</a:t>
            </a:r>
          </a:p>
        </p:txBody>
      </p:sp>
      <p:pic>
        <p:nvPicPr>
          <p:cNvPr id="4" name="Picture 3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046720" cy="50506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matrix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sits at the extreme — 100% e-com mix, $650B revenue. Pure-digital, AWS-distorted multiples.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WMT is the only scaled (&gt;$500B) omnichannel player — ~18% e-com mix and rising, with stores as fulfillment nodes.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COST sits notably below at ~7.5% e-com — but commands a 40%+ P/E premium on membership economics alone.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TGT has higher e-com mix (~20%) than WMT but a tenth of the scale — disadvantaged on supply-chain unit economics.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KR and BJ are sub-scale on both axes.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E-com mix per most-recent IR disclosure or [E] estimate; bubble size reflects market cap.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dive: Costco — Membership-first peer commanding ~40% P/E premium to WMT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~$420B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~$270B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Q3 FY26 comp sales (ex-gas/FX)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+6.2%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~12.5%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EBITDA /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~$13B / ~4.8%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 income (TTM)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~$8B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~50x (vs WMT ~26x)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 / EBITDA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~32x (vs WMT ~17x)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fees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Renewal 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~92–93% US/Canada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~7.5%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97680"/>
              </a:tblGrid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Assessment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Warehouse club; ~$5B annual membership fees fund ultra-low merchandise gross margin. Stores carry ~3,800 SKUs vs WMT ~120K.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Membership renewal ~92%+ creates recurring-revenue dynamic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Pricing power: dues raised 2024 first time in 7 yrs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Negative net debt; no leverage risk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Executive-membership tier acts as ARPU lever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Limited assortment vs WMT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No ad / retail-media business by design (protects member trust)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High dependence on US/Canada; intl expansion slow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Premium valuation provides little error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Strategy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Volume growth via new warehouses (+25/yr), gradual membership-fee step-ups, slow international ramp. Avoids the ad lane.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Costco FY25 10-K; Q3 FY26 monthly sales releases; StockAnalysis.com.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dives: Target, Kroger, BJ — mid-tier scale, narrower moats, varying ad-mix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3749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Target (TGT)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Mass-merch with cheap-chic positioning; ~1,950 US stores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~$107B / ~$4.2B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+2% (recovering from FY25 declines)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Roundel (ads)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~$2B run-rate ad business; growing &gt;25%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~20% — proportionally above WMT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Cheap multiple, real recovery in progress, but no scale moat vs WMT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0" y="1234440"/>
          <a:ext cx="3749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Kroger (KR)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Largest US pure-play grocer; ~2,700 stores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~$148B / ~$2.5B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 (ex-fuel)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+2.5%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KPM (ads)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~$1.5B run-rate ad business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~10% (grocery e-com still small)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Defensive; thin EBITDA margin caps multiple; Albertsons merger blocked Dec 2024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234440"/>
          <a:ext cx="3566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</a:tblGrid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BJ's Wholesale (BJ)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Warehouse club; ~245 clubs, NE/Mid-Atlantic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NI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~$22B / ~$0.55B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Q1 FY26 (ex-gas)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+3.8%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~$470M membership-fee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~5%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Smaller-scale COST follower; valuation discount until renewal-rate parity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TGT/KR/BJ Q1 FY26 IR releases; StockAnalysis.com market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context: Amazon — Comparability caveat (AWS distorts every multiple)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~$2.2T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consolidated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~$650B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~$160B / ~25%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net income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~$65B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advertising services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~$60B (+ 20%+ YoY)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AWS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~$110B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~33x (vs WMT ~26x)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 / EBITDA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~14x (lower than WMT — AWS lifts EBITDA denominator)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E-com mix (of consolidated)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100% (excl. AWS, ~83%)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Why this matters for WMT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783080"/>
            <a:ext cx="45720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AMZN's $60B ad revenue and ~25% consolidated EBITDA margin are the WMT bull-case template directionally.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But: AWS is ~70% of consolidated EBIT — strip it out and AMZN retail margin is ~3–4%, BELOW WMT.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is squeezing WMT specifically on grocery (Whole Foods + Amazon Fresh + same-day Prime grocery in major metros).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Counter: WMT US grocery is 4–5x the size of AMZN grocery; logistics-density advantage remains.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Pair-trade idea: long WMT / short AMZN expresses confidence in stores-as-fulfillment + slowing AWS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AMZN Q1 FY26 earnings; segment reporting; StockAnalysis.com.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Comparative scoreboard — WMT leads scale &amp; ad-revenue trajectory; lags margin vs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1554480"/>
                <a:gridCol w="1463040"/>
                <a:gridCol w="1371600"/>
              </a:tblGrid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WMT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TGT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AMZN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BJ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Revenue scale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$685B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$270B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$107B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$650B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$148B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$22B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 sales growth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+4.5%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+6.2%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+2.0%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+2.5%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+3.8%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EBITDA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~6.6%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~4.8%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~9.3%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~25%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~4.7%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~5.0%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Ad / retail-media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$5B+ Connect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Not played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$2B Roundel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$60B Ads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$1.5B KPM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Minimal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Membership / loyalty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Walmart+ + Sam's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~$5B fees, 92%+ renewal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Circle 360 new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Prime + subs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Boost free-tier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$470M fees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Capital intensity (LT debt)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Elevated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Moderate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Valuation premium absorbed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~26x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~50x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~17x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~33x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~20x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~27x P/E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● = Strong  ○ = Weak. Subjective ratings calibrated to data in companion .xlsx Operating Metrics / Valuation / Retail-Specific tabs.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Strategic synthesis — Moat: scale + data + logistics · Risk: consumer rollover + AMZN grocery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  <a:gridCol w="484632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Moat type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WMT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TGT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AMZN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means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Network effects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marketplace 3P building; AMZN dominant in 3P; COST not a platform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Switching costs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Membership creates highest switching cost; WMT+ is the lever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Scale economies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WMT's per-unit logistics cost is structurally below TGT/KR/BJ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Intangibles (data)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First-party shopper data quality is the input to ad-business growth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Brand / EDLP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WMT and COST have the strongest 'value' brand equity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Net moat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WMT's durable advantages: (i) only scaled omnichannel player with grocery anchor, (ii) ad+marketplace+membership all compounding 20–30%, (iii) supply-chain density unmatched ex-AMZN.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WMT's structural vulnerabilities: (i) consumer downtrade risk, (ii) AMZN pressing on grocery, (iii) Walmart+ subscriber growth opaque, (iv) capex intensity (~$17B/yr) crowds free cash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Moat framework per `competitive-analysis` skill Step 9. Ratings: Strong / Moderate (Mod) / Weak — calibrated against peer comparison.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Range of outcomes anchored by ad-revenue compounding (upside) and consumer downtrade (downside)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4937760"/>
                <a:gridCol w="4114800"/>
              </a:tblGrid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direction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Bull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Walmart Connect → $10B+ run-rate by FY28; Walmart+ subs accelerate; EBIT margin reaches 5.5%; tariff dollar-cost-plus pricing absorbed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P/E re-rates to 28–30x; ~25% upside as margin mix shift validates a structural premium to historical 18–22x band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Base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50%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WMT comp +3–5%; Connect/marketplace 25%+ growth continues; EBIT margin holds 4.5–5%; consumer soft-lands; Stage I tariff drag manageable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Stock tracks ~10–15% appreciation over 18 months in line with EBIT growth + 1-multiple expansion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Bear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Consumer downtrade in 2H 2026; AMZN grocery investments compress WMT US comps; tariffs squeeze general-merch GM; Connect deceleration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Multiple compresses to 20x P/E (peer-aligned); 15–20% downside risk to ~$75 on flat earnings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 to watch (next 3 events that re-rate the scenario weighting)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Walmart Connect / marketplace growth on Q2 FY26 call   2) US consumer-credit + jobs data through 2H 2026   3) Tariff pass-through impact on Q3/Q4 FY26 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judgment, not consensus. For investment use, calibrate to your own conviction and time horizon.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Catalysts &amp; signposts — 2026 → 2028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029200"/>
                <a:gridCol w="3291840"/>
              </a:tblGrid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When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Event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Impact on WMT thesis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Q2 FY26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 Connect ad-business breakout disclosure expected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Validates re-rating mix-shift thesis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Q3 FY26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Holiday season — tariff pass-through visible in gross margin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Tests pricing power vs consumer elasticity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H2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Amazon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Amazon Fresh / Whole Foods grocery footprint expansion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Direct competitive pressure on WMT grocery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Sam's Club new-store cadence accelerating (~10+ new clubs)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Competes directly with COST/BJ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Walmart+ subscriber count disclosure (rumored, not yet committed)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If disclosed, would clarify Prime gap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Costco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Membership-fee increase reset (last increase 2024) — pricing power test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Cross-read for warehouse-club pricing power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 International — India (Flipkart) IPO timing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Value-unlock event; sum-of-parts visibility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FY28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Walmart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EBIT margin tracking towards mgmt long-term framework (~5%+)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Confirms or refutes the structural margin lift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Catalysts compiled from WMT/peer investor commentary and recent media. Track via /catalysts skill in production usage.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Decision frame — four ways to express the Walmart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1430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220"/>
                </a:solidFill>
                <a:latin typeface="Times New Roman"/>
              </a:rPr>
              <a:t>Long WMT outright (highest conviction)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Walmart Connect breakout disclosure on Q2 FY26; sustained 4%+ US comp; EBIT margin tracking ≥4.5%. Risk: consumer downtrade in 2H 2026; AMZN grocery escalation. Position sizing reflects 18–36 month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64592" cy="1143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Pair trade: long WMT / short TGT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WMT comp gap vs TGT widens; tariff pass-through more painful for TGT general-merch mix; WMT data/scale moat advantages compound. Risk: TGT mean-reverts faster than WMT compounds. Cleanest scale-divergence expression within mass-merch.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164592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Relative value: long WMT / short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COST premium narrows as warehouse-club comp slows below WMT; WMT ad business closes margin-mix gap. Risk: COST has demonstrated consistent execution premium — short side may be expensive to carry.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164592" cy="1143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Avoid /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 to re-enter: (i) Walmart+ subscriber count disclosed and credible vs Prime, (ii) P/E retraces to 22x peer-aligned band, (iii) tariff drag fully embedded in numbers. Acknowledges current ~26x P/E already prices significant mix-shift upside.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This deck is research and decision framing — not investment advice. Cross-check valuation against a primary terminal (CapIQ / FactSet / Bloomberg) before acting.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Sources, data gaps,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Walmart Q1 FY26 earnings release and 10-Q (May 2026); WMT 10-K FY25 (Mar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Costco — Q3 FY26 monthly sales releases; COST 10-K FY25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Target — Q1 FY26 earnings; TGT 10-K FY25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Amazon — Q1 FY26 earnings; AMZN 10-K FY25; segment reporting (Advertising Services, AWS)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Kroger — Q1 FY26 earnings; KR 10-K FY25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BJ's Wholesale — Q1 FY26 earnings; BJ 10-K FY25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Market data: StockAnalysis.com, Yahoo Finance (May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Retail-media TAM: eMarketer / IAB US Retail Media report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Industry context: Bain, KeyBanc retail primers; NRF; press coverage (CNBC, Bloomberg)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Data gaps and caveats (read before using in a binding decision)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MCP data sources (CapIQ / FactSet / Daloopa) WERE NOT USED — the financial-services plugin connectors were not configured in this environment. Numbers should be cross-checked against a terminal before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92624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[E] flags in the companion .xlsx Inputs tab identify figures estimated from public commentary; cell comments document each assumption.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2180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Walmart Connect (ad business) is NOT separately disclosed in WMT filings — the ~$5B run-rate is mgmt commentary aggregated across calls / interviews. Range of estimates: $4–6B.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0992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Operating-lease liabilities are excluded from Net Debt — material for AMZN (~$80B+) and modest for others; EV understates economic leverage proportionally.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0176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AMZN consolidated multiples include AWS — they materially distort a 'retail-only' comparison. A clean comparison would require segment-level disaggregation.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This research is for educational/decision-framing use only and is not investment advice.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 the `competitive-analysis` and `comps-analysis` skills in financial-services/plugins/vertical-plugins/financial-analysis. Companion file: WMT-Comps-Analysis.xlsx.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